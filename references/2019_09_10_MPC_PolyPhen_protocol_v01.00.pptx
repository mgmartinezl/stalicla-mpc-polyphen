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302" r:id="rId4"/>
    <p:sldId id="339" r:id="rId5"/>
    <p:sldId id="319" r:id="rId6"/>
    <p:sldId id="320" r:id="rId7"/>
    <p:sldId id="340" r:id="rId8"/>
    <p:sldId id="342" r:id="rId9"/>
    <p:sldId id="341" r:id="rId10"/>
    <p:sldId id="325" r:id="rId11"/>
    <p:sldId id="326" r:id="rId12"/>
    <p:sldId id="343" r:id="rId13"/>
    <p:sldId id="344" r:id="rId14"/>
    <p:sldId id="335" r:id="rId15"/>
    <p:sldId id="334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17" autoAdjust="0"/>
  </p:normalViewPr>
  <p:slideViewPr>
    <p:cSldViewPr snapToGrid="0">
      <p:cViewPr varScale="1">
        <p:scale>
          <a:sx n="63" d="100"/>
          <a:sy n="63" d="100"/>
        </p:scale>
        <p:origin x="85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00FBA4-CB1D-4C58-B09A-B41F99C7A7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146AC3-6495-487A-A59A-8678BB69A317}">
      <dgm:prSet phldrT="[Text]" custT="1"/>
      <dgm:spPr/>
      <dgm:t>
        <a:bodyPr/>
        <a:lstStyle/>
        <a:p>
          <a:r>
            <a:rPr lang="en-US" sz="2400" dirty="0">
              <a:latin typeface="Abadi Extra Light" panose="020B0204020104020204" pitchFamily="34" charset="0"/>
            </a:rPr>
            <a:t>Mandatory parameters</a:t>
          </a:r>
        </a:p>
      </dgm:t>
    </dgm:pt>
    <dgm:pt modelId="{2FFA81AC-5AFC-42A4-B3A4-35184807FF28}" type="parTrans" cxnId="{0F5BC447-51E4-4EAD-B79D-DDA804D903B2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0CDE5A4E-018E-458F-867E-86CE575CE5A4}" type="sibTrans" cxnId="{0F5BC447-51E4-4EAD-B79D-DDA804D903B2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86085957-A16E-4C72-9138-6C9B64D9352A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Input file containing patients and mutations.</a:t>
          </a:r>
        </a:p>
      </dgm:t>
    </dgm:pt>
    <dgm:pt modelId="{CED142A3-A150-4AD6-BF64-C2D0D9AB8325}" type="parTrans" cxnId="{0C49B6A7-A54D-4DD3-B5E6-54CF23DD5FA0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34E2DA64-A300-4B38-B3C1-837FD4B7034D}" type="sibTrans" cxnId="{0C49B6A7-A54D-4DD3-B5E6-54CF23DD5FA0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65AB574B-B228-4761-B809-DE494ECE921E}">
      <dgm:prSet phldrT="[Text]" custT="1"/>
      <dgm:spPr/>
      <dgm:t>
        <a:bodyPr/>
        <a:lstStyle/>
        <a:p>
          <a:r>
            <a:rPr lang="en-US" sz="2400" dirty="0">
              <a:latin typeface="Abadi Extra Light" panose="020B0204020104020204" pitchFamily="34" charset="0"/>
            </a:rPr>
            <a:t>Optional parameters: act as filters</a:t>
          </a:r>
        </a:p>
      </dgm:t>
    </dgm:pt>
    <dgm:pt modelId="{E1C34707-C964-4D09-88EC-5261896B78BB}" type="parTrans" cxnId="{5DFAC81D-9472-4D8B-A593-93EF2E4BF5D8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57E6AB5F-BA01-469E-AA83-47E50ED48A78}" type="sibTrans" cxnId="{5DFAC81D-9472-4D8B-A593-93EF2E4BF5D8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BE88318D-37D8-4165-83D7-19E82BA6BC0A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Genes.</a:t>
          </a:r>
        </a:p>
      </dgm:t>
    </dgm:pt>
    <dgm:pt modelId="{CB49A4FD-3CA0-42AB-8A4E-58240ECE6291}" type="parTrans" cxnId="{E667E63A-7501-4F3C-ABA4-D2E95172116C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46217F2B-685A-4707-9E2A-940DCE7E9185}" type="sibTrans" cxnId="{E667E63A-7501-4F3C-ABA4-D2E95172116C}">
      <dgm:prSet/>
      <dgm:spPr/>
      <dgm:t>
        <a:bodyPr/>
        <a:lstStyle/>
        <a:p>
          <a:endParaRPr lang="en-US" sz="1100">
            <a:latin typeface="Abadi Extra Light" panose="020B0204020104020204" pitchFamily="34" charset="0"/>
          </a:endParaRPr>
        </a:p>
      </dgm:t>
    </dgm:pt>
    <dgm:pt modelId="{F329B068-9BC4-4462-B9D5-9A619FF5230B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Folder containing pathways and their genes.</a:t>
          </a:r>
        </a:p>
      </dgm:t>
    </dgm:pt>
    <dgm:pt modelId="{38D78629-776E-4003-A22F-FEAF89B391DA}" type="parTrans" cxnId="{306B0FB6-47B7-4746-B8FC-E7C1E70997A7}">
      <dgm:prSet/>
      <dgm:spPr/>
      <dgm:t>
        <a:bodyPr/>
        <a:lstStyle/>
        <a:p>
          <a:endParaRPr lang="en-US"/>
        </a:p>
      </dgm:t>
    </dgm:pt>
    <dgm:pt modelId="{13BD7148-BC80-4FB7-8095-67E29808C76F}" type="sibTrans" cxnId="{306B0FB6-47B7-4746-B8FC-E7C1E70997A7}">
      <dgm:prSet/>
      <dgm:spPr/>
      <dgm:t>
        <a:bodyPr/>
        <a:lstStyle/>
        <a:p>
          <a:endParaRPr lang="en-US"/>
        </a:p>
      </dgm:t>
    </dgm:pt>
    <dgm:pt modelId="{8273C375-AA08-4264-9971-EE51802074C9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Patients.</a:t>
          </a:r>
        </a:p>
      </dgm:t>
    </dgm:pt>
    <dgm:pt modelId="{BF77A1B3-F659-459D-8E42-8736713E2575}" type="parTrans" cxnId="{8A8CB847-C81D-41CA-A49B-3BC617977930}">
      <dgm:prSet/>
      <dgm:spPr/>
      <dgm:t>
        <a:bodyPr/>
        <a:lstStyle/>
        <a:p>
          <a:endParaRPr lang="en-US"/>
        </a:p>
      </dgm:t>
    </dgm:pt>
    <dgm:pt modelId="{8D2C53B3-4A71-41FB-90AB-5E7D0AA9BEF6}" type="sibTrans" cxnId="{8A8CB847-C81D-41CA-A49B-3BC617977930}">
      <dgm:prSet/>
      <dgm:spPr/>
      <dgm:t>
        <a:bodyPr/>
        <a:lstStyle/>
        <a:p>
          <a:endParaRPr lang="en-US"/>
        </a:p>
      </dgm:t>
    </dgm:pt>
    <dgm:pt modelId="{723998F3-6070-48DD-8746-FDB1F9EAA5F7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Consequences.</a:t>
          </a:r>
        </a:p>
      </dgm:t>
    </dgm:pt>
    <dgm:pt modelId="{60BD2AFD-0384-4FB6-ACDF-22ADDFCBAD2F}" type="parTrans" cxnId="{C41EE296-3872-4B88-A9C8-9986915DA2EE}">
      <dgm:prSet/>
      <dgm:spPr/>
      <dgm:t>
        <a:bodyPr/>
        <a:lstStyle/>
        <a:p>
          <a:endParaRPr lang="en-US"/>
        </a:p>
      </dgm:t>
    </dgm:pt>
    <dgm:pt modelId="{A4DBD70C-B827-43EF-9F8F-82786E3BCFE9}" type="sibTrans" cxnId="{C41EE296-3872-4B88-A9C8-9986915DA2EE}">
      <dgm:prSet/>
      <dgm:spPr/>
      <dgm:t>
        <a:bodyPr/>
        <a:lstStyle/>
        <a:p>
          <a:endParaRPr lang="en-US"/>
        </a:p>
      </dgm:t>
    </dgm:pt>
    <dgm:pt modelId="{5D3F000B-9F33-444B-9A5D-C91AA7A2D97B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Input file containing the official MPC mapped values.</a:t>
          </a:r>
        </a:p>
      </dgm:t>
    </dgm:pt>
    <dgm:pt modelId="{9F408F31-5031-4B5C-A3F5-44CDE5EB502B}" type="parTrans" cxnId="{33421880-A22F-4EFB-8C0A-7AF0CF858B74}">
      <dgm:prSet/>
      <dgm:spPr/>
      <dgm:t>
        <a:bodyPr/>
        <a:lstStyle/>
        <a:p>
          <a:endParaRPr lang="en-US"/>
        </a:p>
      </dgm:t>
    </dgm:pt>
    <dgm:pt modelId="{C72FAF26-53EF-4BB2-8D83-40D0F2CBD678}" type="sibTrans" cxnId="{33421880-A22F-4EFB-8C0A-7AF0CF858B74}">
      <dgm:prSet/>
      <dgm:spPr/>
      <dgm:t>
        <a:bodyPr/>
        <a:lstStyle/>
        <a:p>
          <a:endParaRPr lang="en-US"/>
        </a:p>
      </dgm:t>
    </dgm:pt>
    <dgm:pt modelId="{A7AB0A1F-DBCD-4CAF-BA7D-C34A2B2FDCB3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MPC.</a:t>
          </a:r>
        </a:p>
      </dgm:t>
    </dgm:pt>
    <dgm:pt modelId="{D16DCBAB-D4E2-4670-8BA7-31D27594D46F}" type="parTrans" cxnId="{2E907DA0-D7F7-4497-BDAA-EE6F30BF8B41}">
      <dgm:prSet/>
      <dgm:spPr/>
      <dgm:t>
        <a:bodyPr/>
        <a:lstStyle/>
        <a:p>
          <a:endParaRPr lang="en-US"/>
        </a:p>
      </dgm:t>
    </dgm:pt>
    <dgm:pt modelId="{F386FA09-0DCA-4C8F-BCDC-6A698A4849D2}" type="sibTrans" cxnId="{2E907DA0-D7F7-4497-BDAA-EE6F30BF8B41}">
      <dgm:prSet/>
      <dgm:spPr/>
      <dgm:t>
        <a:bodyPr/>
        <a:lstStyle/>
        <a:p>
          <a:endParaRPr lang="en-US"/>
        </a:p>
      </dgm:t>
    </dgm:pt>
    <dgm:pt modelId="{E18F7FF9-6DCD-49D1-9069-344F60F74A04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PolyPhen label. </a:t>
          </a:r>
        </a:p>
      </dgm:t>
    </dgm:pt>
    <dgm:pt modelId="{5EB11B00-7290-4901-AEF5-9D41BAD8FD77}" type="parTrans" cxnId="{F18BB836-4B40-4639-8303-9D86BFBB4FC9}">
      <dgm:prSet/>
      <dgm:spPr/>
      <dgm:t>
        <a:bodyPr/>
        <a:lstStyle/>
        <a:p>
          <a:endParaRPr lang="en-US"/>
        </a:p>
      </dgm:t>
    </dgm:pt>
    <dgm:pt modelId="{2DF7CFE3-BE38-4894-8CEE-18B50824D802}" type="sibTrans" cxnId="{F18BB836-4B40-4639-8303-9D86BFBB4FC9}">
      <dgm:prSet/>
      <dgm:spPr/>
      <dgm:t>
        <a:bodyPr/>
        <a:lstStyle/>
        <a:p>
          <a:endParaRPr lang="en-US"/>
        </a:p>
      </dgm:t>
    </dgm:pt>
    <dgm:pt modelId="{69296409-E63F-444B-A4CF-4206441E51C3}">
      <dgm:prSet phldrT="[Text]" custT="1"/>
      <dgm:spPr/>
      <dgm:t>
        <a:bodyPr/>
        <a:lstStyle/>
        <a:p>
          <a:r>
            <a:rPr lang="en-US" sz="1800" dirty="0">
              <a:latin typeface="Abadi Extra Light" panose="020B0204020104020204" pitchFamily="34" charset="0"/>
            </a:rPr>
            <a:t>Adjusted consequences. </a:t>
          </a:r>
        </a:p>
      </dgm:t>
    </dgm:pt>
    <dgm:pt modelId="{D7C7AB36-6C2C-4A3B-BCF8-BB084B7ED8CC}" type="parTrans" cxnId="{EEB92A25-D540-471E-A18E-6B12D2AFA3BE}">
      <dgm:prSet/>
      <dgm:spPr/>
      <dgm:t>
        <a:bodyPr/>
        <a:lstStyle/>
        <a:p>
          <a:endParaRPr lang="en-US"/>
        </a:p>
      </dgm:t>
    </dgm:pt>
    <dgm:pt modelId="{1D7E1B84-6E51-44A9-BFA7-544D4BB61025}" type="sibTrans" cxnId="{EEB92A25-D540-471E-A18E-6B12D2AFA3BE}">
      <dgm:prSet/>
      <dgm:spPr/>
      <dgm:t>
        <a:bodyPr/>
        <a:lstStyle/>
        <a:p>
          <a:endParaRPr lang="en-US"/>
        </a:p>
      </dgm:t>
    </dgm:pt>
    <dgm:pt modelId="{8CCB2EA1-111B-46B8-8079-7492E1B5542B}" type="pres">
      <dgm:prSet presAssocID="{2B00FBA4-CB1D-4C58-B09A-B41F99C7A7E0}" presName="linear" presStyleCnt="0">
        <dgm:presLayoutVars>
          <dgm:animLvl val="lvl"/>
          <dgm:resizeHandles val="exact"/>
        </dgm:presLayoutVars>
      </dgm:prSet>
      <dgm:spPr/>
    </dgm:pt>
    <dgm:pt modelId="{3F3C2C25-13E4-4654-B5C1-D27896EACFE2}" type="pres">
      <dgm:prSet presAssocID="{15146AC3-6495-487A-A59A-8678BB69A317}" presName="parentText" presStyleLbl="node1" presStyleIdx="0" presStyleCnt="2" custScaleY="57090">
        <dgm:presLayoutVars>
          <dgm:chMax val="0"/>
          <dgm:bulletEnabled val="1"/>
        </dgm:presLayoutVars>
      </dgm:prSet>
      <dgm:spPr/>
    </dgm:pt>
    <dgm:pt modelId="{133D3FF6-4C61-4E47-9673-BECA49670E51}" type="pres">
      <dgm:prSet presAssocID="{15146AC3-6495-487A-A59A-8678BB69A317}" presName="childText" presStyleLbl="revTx" presStyleIdx="0" presStyleCnt="2">
        <dgm:presLayoutVars>
          <dgm:bulletEnabled val="1"/>
        </dgm:presLayoutVars>
      </dgm:prSet>
      <dgm:spPr/>
    </dgm:pt>
    <dgm:pt modelId="{CA1DEA98-0227-4375-B7C1-4CDD8CECB021}" type="pres">
      <dgm:prSet presAssocID="{65AB574B-B228-4761-B809-DE494ECE921E}" presName="parentText" presStyleLbl="node1" presStyleIdx="1" presStyleCnt="2" custScaleY="55232">
        <dgm:presLayoutVars>
          <dgm:chMax val="0"/>
          <dgm:bulletEnabled val="1"/>
        </dgm:presLayoutVars>
      </dgm:prSet>
      <dgm:spPr/>
    </dgm:pt>
    <dgm:pt modelId="{031E98BD-2ED7-4F07-82B3-A3B4BCE7E46A}" type="pres">
      <dgm:prSet presAssocID="{65AB574B-B228-4761-B809-DE494ECE921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DFFBF01-0EC3-4DB4-9A12-F5FE8E3DA488}" type="presOf" srcId="{A7AB0A1F-DBCD-4CAF-BA7D-C34A2B2FDCB3}" destId="{031E98BD-2ED7-4F07-82B3-A3B4BCE7E46A}" srcOrd="0" destOrd="3" presId="urn:microsoft.com/office/officeart/2005/8/layout/vList2"/>
    <dgm:cxn modelId="{A7ECFE09-ADE5-4537-BCB9-D84A0EE83820}" type="presOf" srcId="{8273C375-AA08-4264-9971-EE51802074C9}" destId="{031E98BD-2ED7-4F07-82B3-A3B4BCE7E46A}" srcOrd="0" destOrd="1" presId="urn:microsoft.com/office/officeart/2005/8/layout/vList2"/>
    <dgm:cxn modelId="{5DFAC81D-9472-4D8B-A593-93EF2E4BF5D8}" srcId="{2B00FBA4-CB1D-4C58-B09A-B41F99C7A7E0}" destId="{65AB574B-B228-4761-B809-DE494ECE921E}" srcOrd="1" destOrd="0" parTransId="{E1C34707-C964-4D09-88EC-5261896B78BB}" sibTransId="{57E6AB5F-BA01-469E-AA83-47E50ED48A78}"/>
    <dgm:cxn modelId="{EEB92A25-D540-471E-A18E-6B12D2AFA3BE}" srcId="{65AB574B-B228-4761-B809-DE494ECE921E}" destId="{69296409-E63F-444B-A4CF-4206441E51C3}" srcOrd="5" destOrd="0" parTransId="{D7C7AB36-6C2C-4A3B-BCF8-BB084B7ED8CC}" sibTransId="{1D7E1B84-6E51-44A9-BFA7-544D4BB61025}"/>
    <dgm:cxn modelId="{7B596C27-5ADA-4587-BB88-56BD94602F59}" type="presOf" srcId="{65AB574B-B228-4761-B809-DE494ECE921E}" destId="{CA1DEA98-0227-4375-B7C1-4CDD8CECB021}" srcOrd="0" destOrd="0" presId="urn:microsoft.com/office/officeart/2005/8/layout/vList2"/>
    <dgm:cxn modelId="{F18BB836-4B40-4639-8303-9D86BFBB4FC9}" srcId="{65AB574B-B228-4761-B809-DE494ECE921E}" destId="{E18F7FF9-6DCD-49D1-9069-344F60F74A04}" srcOrd="4" destOrd="0" parTransId="{5EB11B00-7290-4901-AEF5-9D41BAD8FD77}" sibTransId="{2DF7CFE3-BE38-4894-8CEE-18B50824D802}"/>
    <dgm:cxn modelId="{E667E63A-7501-4F3C-ABA4-D2E95172116C}" srcId="{65AB574B-B228-4761-B809-DE494ECE921E}" destId="{BE88318D-37D8-4165-83D7-19E82BA6BC0A}" srcOrd="0" destOrd="0" parTransId="{CB49A4FD-3CA0-42AB-8A4E-58240ECE6291}" sibTransId="{46217F2B-685A-4707-9E2A-940DCE7E9185}"/>
    <dgm:cxn modelId="{8A8CB847-C81D-41CA-A49B-3BC617977930}" srcId="{65AB574B-B228-4761-B809-DE494ECE921E}" destId="{8273C375-AA08-4264-9971-EE51802074C9}" srcOrd="1" destOrd="0" parTransId="{BF77A1B3-F659-459D-8E42-8736713E2575}" sibTransId="{8D2C53B3-4A71-41FB-90AB-5E7D0AA9BEF6}"/>
    <dgm:cxn modelId="{0F5BC447-51E4-4EAD-B79D-DDA804D903B2}" srcId="{2B00FBA4-CB1D-4C58-B09A-B41F99C7A7E0}" destId="{15146AC3-6495-487A-A59A-8678BB69A317}" srcOrd="0" destOrd="0" parTransId="{2FFA81AC-5AFC-42A4-B3A4-35184807FF28}" sibTransId="{0CDE5A4E-018E-458F-867E-86CE575CE5A4}"/>
    <dgm:cxn modelId="{44CFDE47-FD69-49B2-8201-320F00EE300A}" type="presOf" srcId="{2B00FBA4-CB1D-4C58-B09A-B41F99C7A7E0}" destId="{8CCB2EA1-111B-46B8-8079-7492E1B5542B}" srcOrd="0" destOrd="0" presId="urn:microsoft.com/office/officeart/2005/8/layout/vList2"/>
    <dgm:cxn modelId="{776B586E-CF13-4546-A2C0-84CC4D390865}" type="presOf" srcId="{86085957-A16E-4C72-9138-6C9B64D9352A}" destId="{133D3FF6-4C61-4E47-9673-BECA49670E51}" srcOrd="0" destOrd="0" presId="urn:microsoft.com/office/officeart/2005/8/layout/vList2"/>
    <dgm:cxn modelId="{22D19358-348A-40CE-ACA5-D4A2D9168B5D}" type="presOf" srcId="{69296409-E63F-444B-A4CF-4206441E51C3}" destId="{031E98BD-2ED7-4F07-82B3-A3B4BCE7E46A}" srcOrd="0" destOrd="5" presId="urn:microsoft.com/office/officeart/2005/8/layout/vList2"/>
    <dgm:cxn modelId="{33421880-A22F-4EFB-8C0A-7AF0CF858B74}" srcId="{15146AC3-6495-487A-A59A-8678BB69A317}" destId="{5D3F000B-9F33-444B-9A5D-C91AA7A2D97B}" srcOrd="2" destOrd="0" parTransId="{9F408F31-5031-4B5C-A3F5-44CDE5EB502B}" sibTransId="{C72FAF26-53EF-4BB2-8D83-40D0F2CBD678}"/>
    <dgm:cxn modelId="{227DCC87-3609-415A-A229-897E65A8AF71}" type="presOf" srcId="{F329B068-9BC4-4462-B9D5-9A619FF5230B}" destId="{133D3FF6-4C61-4E47-9673-BECA49670E51}" srcOrd="0" destOrd="1" presId="urn:microsoft.com/office/officeart/2005/8/layout/vList2"/>
    <dgm:cxn modelId="{A2A3E293-A5EF-46E6-A539-1F4A46E1278C}" type="presOf" srcId="{5D3F000B-9F33-444B-9A5D-C91AA7A2D97B}" destId="{133D3FF6-4C61-4E47-9673-BECA49670E51}" srcOrd="0" destOrd="2" presId="urn:microsoft.com/office/officeart/2005/8/layout/vList2"/>
    <dgm:cxn modelId="{C41EE296-3872-4B88-A9C8-9986915DA2EE}" srcId="{65AB574B-B228-4761-B809-DE494ECE921E}" destId="{723998F3-6070-48DD-8746-FDB1F9EAA5F7}" srcOrd="2" destOrd="0" parTransId="{60BD2AFD-0384-4FB6-ACDF-22ADDFCBAD2F}" sibTransId="{A4DBD70C-B827-43EF-9F8F-82786E3BCFE9}"/>
    <dgm:cxn modelId="{B2FE969A-562E-44A5-8F9D-F29BDEECB6DC}" type="presOf" srcId="{BE88318D-37D8-4165-83D7-19E82BA6BC0A}" destId="{031E98BD-2ED7-4F07-82B3-A3B4BCE7E46A}" srcOrd="0" destOrd="0" presId="urn:microsoft.com/office/officeart/2005/8/layout/vList2"/>
    <dgm:cxn modelId="{2E907DA0-D7F7-4497-BDAA-EE6F30BF8B41}" srcId="{65AB574B-B228-4761-B809-DE494ECE921E}" destId="{A7AB0A1F-DBCD-4CAF-BA7D-C34A2B2FDCB3}" srcOrd="3" destOrd="0" parTransId="{D16DCBAB-D4E2-4670-8BA7-31D27594D46F}" sibTransId="{F386FA09-0DCA-4C8F-BCDC-6A698A4849D2}"/>
    <dgm:cxn modelId="{0C49B6A7-A54D-4DD3-B5E6-54CF23DD5FA0}" srcId="{15146AC3-6495-487A-A59A-8678BB69A317}" destId="{86085957-A16E-4C72-9138-6C9B64D9352A}" srcOrd="0" destOrd="0" parTransId="{CED142A3-A150-4AD6-BF64-C2D0D9AB8325}" sibTransId="{34E2DA64-A300-4B38-B3C1-837FD4B7034D}"/>
    <dgm:cxn modelId="{BDB0B6B5-0797-4743-9A13-174B6ECCC4F9}" type="presOf" srcId="{15146AC3-6495-487A-A59A-8678BB69A317}" destId="{3F3C2C25-13E4-4654-B5C1-D27896EACFE2}" srcOrd="0" destOrd="0" presId="urn:microsoft.com/office/officeart/2005/8/layout/vList2"/>
    <dgm:cxn modelId="{306B0FB6-47B7-4746-B8FC-E7C1E70997A7}" srcId="{15146AC3-6495-487A-A59A-8678BB69A317}" destId="{F329B068-9BC4-4462-B9D5-9A619FF5230B}" srcOrd="1" destOrd="0" parTransId="{38D78629-776E-4003-A22F-FEAF89B391DA}" sibTransId="{13BD7148-BC80-4FB7-8095-67E29808C76F}"/>
    <dgm:cxn modelId="{7C61CDC6-5FC6-4052-990B-51D7AC3358FB}" type="presOf" srcId="{723998F3-6070-48DD-8746-FDB1F9EAA5F7}" destId="{031E98BD-2ED7-4F07-82B3-A3B4BCE7E46A}" srcOrd="0" destOrd="2" presId="urn:microsoft.com/office/officeart/2005/8/layout/vList2"/>
    <dgm:cxn modelId="{8E053AD4-9064-4BD6-A349-8F74970AE4FA}" type="presOf" srcId="{E18F7FF9-6DCD-49D1-9069-344F60F74A04}" destId="{031E98BD-2ED7-4F07-82B3-A3B4BCE7E46A}" srcOrd="0" destOrd="4" presId="urn:microsoft.com/office/officeart/2005/8/layout/vList2"/>
    <dgm:cxn modelId="{FDB199B1-7E72-43AB-B9C2-F3D265C450B9}" type="presParOf" srcId="{8CCB2EA1-111B-46B8-8079-7492E1B5542B}" destId="{3F3C2C25-13E4-4654-B5C1-D27896EACFE2}" srcOrd="0" destOrd="0" presId="urn:microsoft.com/office/officeart/2005/8/layout/vList2"/>
    <dgm:cxn modelId="{2329F8B0-0E3C-4A8A-A2FC-EDA3AD5061BB}" type="presParOf" srcId="{8CCB2EA1-111B-46B8-8079-7492E1B5542B}" destId="{133D3FF6-4C61-4E47-9673-BECA49670E51}" srcOrd="1" destOrd="0" presId="urn:microsoft.com/office/officeart/2005/8/layout/vList2"/>
    <dgm:cxn modelId="{29134945-F12C-4B0A-927A-FE5B8314DD38}" type="presParOf" srcId="{8CCB2EA1-111B-46B8-8079-7492E1B5542B}" destId="{CA1DEA98-0227-4375-B7C1-4CDD8CECB021}" srcOrd="2" destOrd="0" presId="urn:microsoft.com/office/officeart/2005/8/layout/vList2"/>
    <dgm:cxn modelId="{C3CDAE7C-6E37-401D-AB71-D79FAAAE42C1}" type="presParOf" srcId="{8CCB2EA1-111B-46B8-8079-7492E1B5542B}" destId="{031E98BD-2ED7-4F07-82B3-A3B4BCE7E46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C2C25-13E4-4654-B5C1-D27896EACFE2}">
      <dsp:nvSpPr>
        <dsp:cNvPr id="0" name=""/>
        <dsp:cNvSpPr/>
      </dsp:nvSpPr>
      <dsp:spPr>
        <a:xfrm>
          <a:off x="0" y="17128"/>
          <a:ext cx="8097520" cy="5984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badi Extra Light" panose="020B0204020104020204" pitchFamily="34" charset="0"/>
            </a:rPr>
            <a:t>Mandatory parameters</a:t>
          </a:r>
        </a:p>
      </dsp:txBody>
      <dsp:txXfrm>
        <a:off x="29216" y="46344"/>
        <a:ext cx="8039088" cy="540053"/>
      </dsp:txXfrm>
    </dsp:sp>
    <dsp:sp modelId="{133D3FF6-4C61-4E47-9673-BECA49670E51}">
      <dsp:nvSpPr>
        <dsp:cNvPr id="0" name=""/>
        <dsp:cNvSpPr/>
      </dsp:nvSpPr>
      <dsp:spPr>
        <a:xfrm>
          <a:off x="0" y="615614"/>
          <a:ext cx="8097520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09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Input file containing patients and mutations.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Folder containing pathways and their genes.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Input file containing the official MPC mapped values.</a:t>
          </a:r>
        </a:p>
      </dsp:txBody>
      <dsp:txXfrm>
        <a:off x="0" y="615614"/>
        <a:ext cx="8097520" cy="927360"/>
      </dsp:txXfrm>
    </dsp:sp>
    <dsp:sp modelId="{CA1DEA98-0227-4375-B7C1-4CDD8CECB021}">
      <dsp:nvSpPr>
        <dsp:cNvPr id="0" name=""/>
        <dsp:cNvSpPr/>
      </dsp:nvSpPr>
      <dsp:spPr>
        <a:xfrm>
          <a:off x="0" y="1542974"/>
          <a:ext cx="8097520" cy="579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badi Extra Light" panose="020B0204020104020204" pitchFamily="34" charset="0"/>
            </a:rPr>
            <a:t>Optional parameters: act as filters</a:t>
          </a:r>
        </a:p>
      </dsp:txBody>
      <dsp:txXfrm>
        <a:off x="28265" y="1571239"/>
        <a:ext cx="8040990" cy="522478"/>
      </dsp:txXfrm>
    </dsp:sp>
    <dsp:sp modelId="{031E98BD-2ED7-4F07-82B3-A3B4BCE7E46A}">
      <dsp:nvSpPr>
        <dsp:cNvPr id="0" name=""/>
        <dsp:cNvSpPr/>
      </dsp:nvSpPr>
      <dsp:spPr>
        <a:xfrm>
          <a:off x="0" y="2121982"/>
          <a:ext cx="8097520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096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Genes.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Patients.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Consequences.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MPC.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PolyPhen label.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Abadi Extra Light" panose="020B0204020104020204" pitchFamily="34" charset="0"/>
            </a:rPr>
            <a:t>Adjusted consequences. </a:t>
          </a:r>
        </a:p>
      </dsp:txBody>
      <dsp:txXfrm>
        <a:off x="0" y="2121982"/>
        <a:ext cx="8097520" cy="1738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41305-E248-4842-AEF6-36C2F2A111BC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0743B-7677-4FA6-A7F0-12EE4ABB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4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/>
          <p:nvPr/>
        </p:nvPicPr>
        <p:blipFill>
          <a:blip r:embed="rId14"/>
          <a:srcRect l="19261" t="20543" r="23607" b="31256"/>
          <a:stretch/>
        </p:blipFill>
        <p:spPr>
          <a:xfrm>
            <a:off x="0" y="1507320"/>
            <a:ext cx="9142920" cy="5131800"/>
          </a:xfrm>
          <a:prstGeom prst="rect">
            <a:avLst/>
          </a:prstGeom>
          <a:ln>
            <a:noFill/>
          </a:ln>
        </p:spPr>
      </p:pic>
      <p:sp>
        <p:nvSpPr>
          <p:cNvPr id="8" name="Line 1"/>
          <p:cNvSpPr/>
          <p:nvPr/>
        </p:nvSpPr>
        <p:spPr>
          <a:xfrm>
            <a:off x="-11880" y="1388520"/>
            <a:ext cx="9155880" cy="360"/>
          </a:xfrm>
          <a:prstGeom prst="line">
            <a:avLst/>
          </a:prstGeom>
          <a:ln w="241200">
            <a:solidFill>
              <a:srgbClr val="00AAE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2"/>
          <p:cNvSpPr/>
          <p:nvPr/>
        </p:nvSpPr>
        <p:spPr>
          <a:xfrm>
            <a:off x="-11880" y="6748920"/>
            <a:ext cx="9155880" cy="360"/>
          </a:xfrm>
          <a:prstGeom prst="line">
            <a:avLst/>
          </a:prstGeom>
          <a:ln w="241200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" name="Picture 11"/>
          <p:cNvPicPr/>
          <p:nvPr/>
        </p:nvPicPr>
        <p:blipFill>
          <a:blip r:embed="rId15"/>
          <a:stretch/>
        </p:blipFill>
        <p:spPr>
          <a:xfrm>
            <a:off x="285840" y="357480"/>
            <a:ext cx="2799360" cy="628200"/>
          </a:xfrm>
          <a:prstGeom prst="rect">
            <a:avLst/>
          </a:prstGeom>
          <a:ln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6" name="Picture 5"/>
          <p:cNvPicPr/>
          <p:nvPr/>
        </p:nvPicPr>
        <p:blipFill>
          <a:blip r:embed="rId16"/>
          <a:stretch/>
        </p:blipFill>
        <p:spPr>
          <a:xfrm>
            <a:off x="3295800" y="512640"/>
            <a:ext cx="544320" cy="329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1"/>
          <p:cNvSpPr/>
          <p:nvPr/>
        </p:nvSpPr>
        <p:spPr>
          <a:xfrm>
            <a:off x="200160" y="6352560"/>
            <a:ext cx="8691120" cy="360"/>
          </a:xfrm>
          <a:prstGeom prst="line">
            <a:avLst/>
          </a:prstGeom>
          <a:ln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200520" y="6481080"/>
            <a:ext cx="7480080" cy="39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1" strike="noStrike" spc="-1">
                <a:solidFill>
                  <a:srgbClr val="00AEEF"/>
                </a:solidFill>
                <a:latin typeface="Tahoma"/>
                <a:ea typeface="Tahoma"/>
              </a:rPr>
              <a:t>CONFIDENTIAL</a:t>
            </a:r>
            <a:r>
              <a:rPr lang="en-US" sz="1000" b="0" strike="noStrike" spc="-1">
                <a:solidFill>
                  <a:srgbClr val="4D4D4F"/>
                </a:solidFill>
                <a:latin typeface="Tahoma"/>
                <a:ea typeface="Tahoma"/>
              </a:rPr>
              <a:t> </a:t>
            </a:r>
            <a:r>
              <a:rPr lang="en-US" sz="1000" b="0" strike="noStrike" spc="-1">
                <a:solidFill>
                  <a:srgbClr val="757070"/>
                </a:solidFill>
                <a:latin typeface="Tahoma"/>
                <a:ea typeface="Tahoma"/>
              </a:rPr>
              <a:t>STALICLA R&amp;D – Do not use, modify or transmit content without prior authorization  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5" name="Group 3"/>
          <p:cNvGrpSpPr/>
          <p:nvPr/>
        </p:nvGrpSpPr>
        <p:grpSpPr>
          <a:xfrm>
            <a:off x="-7200" y="158040"/>
            <a:ext cx="9151200" cy="1213560"/>
            <a:chOff x="-7200" y="158040"/>
            <a:chExt cx="9151200" cy="1213560"/>
          </a:xfrm>
        </p:grpSpPr>
        <p:pic>
          <p:nvPicPr>
            <p:cNvPr id="46" name="Picture 29"/>
            <p:cNvPicPr/>
            <p:nvPr/>
          </p:nvPicPr>
          <p:blipFill>
            <a:blip r:embed="rId14"/>
            <a:srcRect t="20824" r="3163" b="28132"/>
            <a:stretch/>
          </p:blipFill>
          <p:spPr>
            <a:xfrm>
              <a:off x="-4320" y="712440"/>
              <a:ext cx="9147240" cy="6469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" name="Line 4"/>
            <p:cNvSpPr/>
            <p:nvPr/>
          </p:nvSpPr>
          <p:spPr>
            <a:xfrm>
              <a:off x="-7200" y="704520"/>
              <a:ext cx="9151200" cy="360"/>
            </a:xfrm>
            <a:prstGeom prst="line">
              <a:avLst/>
            </a:prstGeom>
            <a:ln w="34920">
              <a:solidFill>
                <a:srgbClr val="00AAE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" name="Line 5"/>
            <p:cNvSpPr/>
            <p:nvPr/>
          </p:nvSpPr>
          <p:spPr>
            <a:xfrm>
              <a:off x="-7200" y="1371240"/>
              <a:ext cx="9151200" cy="360"/>
            </a:xfrm>
            <a:prstGeom prst="line">
              <a:avLst/>
            </a:prstGeom>
            <a:ln w="34920">
              <a:solidFill>
                <a:schemeClr val="accent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9" name="Picture 32"/>
            <p:cNvPicPr/>
            <p:nvPr/>
          </p:nvPicPr>
          <p:blipFill>
            <a:blip r:embed="rId15"/>
            <a:stretch/>
          </p:blipFill>
          <p:spPr>
            <a:xfrm>
              <a:off x="274680" y="158040"/>
              <a:ext cx="1650600" cy="3700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0" name="Picture 49"/>
          <p:cNvPicPr/>
          <p:nvPr/>
        </p:nvPicPr>
        <p:blipFill>
          <a:blip r:embed="rId16"/>
          <a:stretch/>
        </p:blipFill>
        <p:spPr>
          <a:xfrm>
            <a:off x="2047680" y="216360"/>
            <a:ext cx="421200" cy="255240"/>
          </a:xfrm>
          <a:prstGeom prst="rect">
            <a:avLst/>
          </a:prstGeom>
          <a:ln>
            <a:noFill/>
          </a:ln>
        </p:spPr>
      </p:pic>
      <p:sp>
        <p:nvSpPr>
          <p:cNvPr id="51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2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gmartinezl/Stalicla-MPC-PolyPhen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2651760" y="2828160"/>
            <a:ext cx="5369679" cy="65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Overview of the MPC and PolyPhen</a:t>
            </a:r>
            <a:r>
              <a:rPr lang="en-US" sz="3200" b="1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 2 </a:t>
            </a:r>
            <a:r>
              <a:rPr lang="en-US" sz="3200" b="1" strike="noStrike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annotation protocol</a:t>
            </a:r>
          </a:p>
          <a:p>
            <a:pPr algn="r">
              <a:lnSpc>
                <a:spcPct val="90000"/>
              </a:lnSpc>
            </a:pPr>
            <a:endParaRPr lang="en-US" sz="3200" b="1" spc="-1" dirty="0">
              <a:solidFill>
                <a:srgbClr val="FFFFFF"/>
              </a:solidFill>
              <a:latin typeface="Abadi Extra Light" panose="020B0604020202020204" pitchFamily="34" charset="0"/>
              <a:ea typeface="Tahoma"/>
            </a:endParaRPr>
          </a:p>
          <a:p>
            <a:pPr algn="r">
              <a:lnSpc>
                <a:spcPct val="90000"/>
              </a:lnSpc>
            </a:pPr>
            <a:endParaRPr lang="en-US" sz="3200" b="1" spc="-1" dirty="0">
              <a:solidFill>
                <a:srgbClr val="FFFFFF"/>
              </a:solidFill>
              <a:latin typeface="Abadi Extra Light" panose="020B0604020202020204" pitchFamily="34" charset="0"/>
              <a:ea typeface="Tahoma"/>
            </a:endParaRPr>
          </a:p>
          <a:p>
            <a:pPr algn="r">
              <a:lnSpc>
                <a:spcPct val="90000"/>
              </a:lnSpc>
            </a:pPr>
            <a:r>
              <a:rPr lang="en-US" sz="2400" b="1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Gabriela Martínez</a:t>
            </a:r>
          </a:p>
          <a:p>
            <a:pPr algn="r">
              <a:lnSpc>
                <a:spcPct val="90000"/>
              </a:lnSpc>
            </a:pPr>
            <a:r>
              <a:rPr lang="en-US" sz="2400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September 2019</a:t>
            </a:r>
            <a:br>
              <a:rPr dirty="0">
                <a:latin typeface="Abadi Extra Light" panose="020B0604020202020204" pitchFamily="34" charset="0"/>
              </a:rPr>
            </a:br>
            <a:endParaRPr lang="en-US" sz="3200" b="0" strike="noStrike" spc="-1" dirty="0">
              <a:latin typeface="Abadi Extra Light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MPC-PolyPhen2 protocol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E02F744F-5BBC-48CD-BB68-2132C42DA5E2}"/>
              </a:ext>
            </a:extLst>
          </p:cNvPr>
          <p:cNvSpPr/>
          <p:nvPr/>
        </p:nvSpPr>
        <p:spPr>
          <a:xfrm>
            <a:off x="271240" y="2123440"/>
            <a:ext cx="8476520" cy="32915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 command line inter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face program built in Python 3 to annotate MPC values and PolyPhen2 prediction labels to a set of patients and mutations. Given the initial dataset, this protocol will create the following columns: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MPC: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for missense variant mutations.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PolyPhen2 prediction label: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available options are 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benign, possibly damaging, and probably damaging.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PolyPhen2 prediction value: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probability associated to the PolyPhen2 prediction label.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Adjusted consequence: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further classification of consequences to find Missense, Missense3 and PTV mutations.</a:t>
            </a:r>
            <a:endParaRPr lang="en-US" sz="2000" b="1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7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How to execute this protocol?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6E61F9-A9F3-4AED-8993-6D2E3B462E15}"/>
              </a:ext>
            </a:extLst>
          </p:cNvPr>
          <p:cNvSpPr/>
          <p:nvPr/>
        </p:nvSpPr>
        <p:spPr>
          <a:xfrm>
            <a:off x="120685" y="2024009"/>
            <a:ext cx="2248440" cy="33506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This module is written in Python 3 and uses up-to-date libraries for this version as well. </a:t>
            </a:r>
          </a:p>
          <a:p>
            <a:pPr algn="r">
              <a:lnSpc>
                <a:spcPct val="90000"/>
              </a:lnSpc>
            </a:pPr>
            <a:endParaRPr lang="en-US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To run the main module in a Linux environment, simply open a new terminal and call the script together with the arguments it accepts:</a:t>
            </a:r>
            <a:endParaRPr lang="en-US" spc="-1" dirty="0">
              <a:solidFill>
                <a:schemeClr val="accent1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32D014-A87C-46C5-B27A-F71C9D6A5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25" y="2225149"/>
            <a:ext cx="6523955" cy="27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03D23-7BC2-4ACC-ACBC-EDA08FF87A4F}"/>
              </a:ext>
            </a:extLst>
          </p:cNvPr>
          <p:cNvSpPr/>
          <p:nvPr/>
        </p:nvSpPr>
        <p:spPr>
          <a:xfrm>
            <a:off x="670060" y="5101327"/>
            <a:ext cx="2488410" cy="921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E04A50-34D0-4E15-9BDC-1DDD9A3F766B}"/>
              </a:ext>
            </a:extLst>
          </p:cNvPr>
          <p:cNvSpPr/>
          <p:nvPr/>
        </p:nvSpPr>
        <p:spPr>
          <a:xfrm>
            <a:off x="670060" y="4294350"/>
            <a:ext cx="2488410" cy="8069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B350E0-EB28-4401-9D2E-617711966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264031"/>
              </p:ext>
            </p:extLst>
          </p:nvPr>
        </p:nvGraphicFramePr>
        <p:xfrm>
          <a:off x="523240" y="2151187"/>
          <a:ext cx="8097520" cy="3877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MPC-PolyPhen2 </a:t>
            </a: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protocol arguments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FD41FB29-01BB-4BE2-A880-062C8C985758}"/>
              </a:ext>
            </a:extLst>
          </p:cNvPr>
          <p:cNvSpPr/>
          <p:nvPr/>
        </p:nvSpPr>
        <p:spPr>
          <a:xfrm>
            <a:off x="3857512" y="4354507"/>
            <a:ext cx="3129280" cy="7438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16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protocol accepts filtering by these parameters before annotating MPC and pph2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70AE1-7AB1-4B87-A8C5-80B353FE4FD7}"/>
              </a:ext>
            </a:extLst>
          </p:cNvPr>
          <p:cNvSpPr/>
          <p:nvPr/>
        </p:nvSpPr>
        <p:spPr>
          <a:xfrm>
            <a:off x="4712700" y="604199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>
                <a:solidFill>
                  <a:srgbClr val="24292E"/>
                </a:solidFill>
                <a:latin typeface="Abadi Extra Light" panose="020B0204020104020204" pitchFamily="34" charset="0"/>
              </a:rPr>
              <a:t>Note:</a:t>
            </a:r>
            <a:r>
              <a:rPr lang="en-US" sz="1200" dirty="0">
                <a:solidFill>
                  <a:srgbClr val="24292E"/>
                </a:solidFill>
                <a:latin typeface="Abadi Extra Light" panose="020B0204020104020204" pitchFamily="34" charset="0"/>
              </a:rPr>
              <a:t> help() is available for all the parameters via the command line.</a:t>
            </a:r>
            <a:endParaRPr lang="en-US" sz="1200" dirty="0">
              <a:latin typeface="Abadi Extra Light" panose="020B0204020104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FC773C7-DFF1-4199-AA42-B19CCF7BB33A}"/>
              </a:ext>
            </a:extLst>
          </p:cNvPr>
          <p:cNvSpPr/>
          <p:nvPr/>
        </p:nvSpPr>
        <p:spPr>
          <a:xfrm>
            <a:off x="3305290" y="4587982"/>
            <a:ext cx="416560" cy="28284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B250B82D-6C37-44E1-B378-05553ED61A8F}"/>
              </a:ext>
            </a:extLst>
          </p:cNvPr>
          <p:cNvSpPr/>
          <p:nvPr/>
        </p:nvSpPr>
        <p:spPr>
          <a:xfrm>
            <a:off x="3857512" y="5190317"/>
            <a:ext cx="3129280" cy="7438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16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protocol accepts filtering by these parameters after annotating MPC and pph2 information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6850214-F053-4F8A-A2E6-991C13023070}"/>
              </a:ext>
            </a:extLst>
          </p:cNvPr>
          <p:cNvSpPr/>
          <p:nvPr/>
        </p:nvSpPr>
        <p:spPr>
          <a:xfrm>
            <a:off x="3305290" y="5423792"/>
            <a:ext cx="416560" cy="28284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0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MPC-PolyPhen2</a:t>
            </a: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mandatory parameters: input file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6E61F9-A9F3-4AED-8993-6D2E3B462E15}"/>
              </a:ext>
            </a:extLst>
          </p:cNvPr>
          <p:cNvSpPr/>
          <p:nvPr/>
        </p:nvSpPr>
        <p:spPr>
          <a:xfrm>
            <a:off x="250920" y="2024009"/>
            <a:ext cx="8476520" cy="5972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input file containing patients and mutations has the following columns*.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Only observations with a valid </a:t>
            </a:r>
            <a:r>
              <a:rPr lang="en-US" sz="2000" b="1" spc="-1" dirty="0" err="1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HGNC_symbol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will be considered.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400F9B-05E2-4D91-996C-C20E3D9D5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72262"/>
              </p:ext>
            </p:extLst>
          </p:nvPr>
        </p:nvGraphicFramePr>
        <p:xfrm>
          <a:off x="333741" y="2919147"/>
          <a:ext cx="7735059" cy="2849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37647">
                  <a:extLst>
                    <a:ext uri="{9D8B030D-6E8A-4147-A177-3AD203B41FA5}">
                      <a16:colId xmlns:a16="http://schemas.microsoft.com/office/drawing/2014/main" val="566549421"/>
                    </a:ext>
                  </a:extLst>
                </a:gridCol>
                <a:gridCol w="783555">
                  <a:extLst>
                    <a:ext uri="{9D8B030D-6E8A-4147-A177-3AD203B41FA5}">
                      <a16:colId xmlns:a16="http://schemas.microsoft.com/office/drawing/2014/main" val="4270458755"/>
                    </a:ext>
                  </a:extLst>
                </a:gridCol>
                <a:gridCol w="374743">
                  <a:extLst>
                    <a:ext uri="{9D8B030D-6E8A-4147-A177-3AD203B41FA5}">
                      <a16:colId xmlns:a16="http://schemas.microsoft.com/office/drawing/2014/main" val="4148601070"/>
                    </a:ext>
                  </a:extLst>
                </a:gridCol>
                <a:gridCol w="987959">
                  <a:extLst>
                    <a:ext uri="{9D8B030D-6E8A-4147-A177-3AD203B41FA5}">
                      <a16:colId xmlns:a16="http://schemas.microsoft.com/office/drawing/2014/main" val="3977579580"/>
                    </a:ext>
                  </a:extLst>
                </a:gridCol>
                <a:gridCol w="1283212">
                  <a:extLst>
                    <a:ext uri="{9D8B030D-6E8A-4147-A177-3AD203B41FA5}">
                      <a16:colId xmlns:a16="http://schemas.microsoft.com/office/drawing/2014/main" val="460646814"/>
                    </a:ext>
                  </a:extLst>
                </a:gridCol>
                <a:gridCol w="1283212">
                  <a:extLst>
                    <a:ext uri="{9D8B030D-6E8A-4147-A177-3AD203B41FA5}">
                      <a16:colId xmlns:a16="http://schemas.microsoft.com/office/drawing/2014/main" val="2338258831"/>
                    </a:ext>
                  </a:extLst>
                </a:gridCol>
                <a:gridCol w="1374059">
                  <a:extLst>
                    <a:ext uri="{9D8B030D-6E8A-4147-A177-3AD203B41FA5}">
                      <a16:colId xmlns:a16="http://schemas.microsoft.com/office/drawing/2014/main" val="2298311088"/>
                    </a:ext>
                  </a:extLst>
                </a:gridCol>
                <a:gridCol w="352032">
                  <a:extLst>
                    <a:ext uri="{9D8B030D-6E8A-4147-A177-3AD203B41FA5}">
                      <a16:colId xmlns:a16="http://schemas.microsoft.com/office/drawing/2014/main" val="1457784495"/>
                    </a:ext>
                  </a:extLst>
                </a:gridCol>
                <a:gridCol w="658640">
                  <a:extLst>
                    <a:ext uri="{9D8B030D-6E8A-4147-A177-3AD203B41FA5}">
                      <a16:colId xmlns:a16="http://schemas.microsoft.com/office/drawing/2014/main" val="3670079129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Chr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child_id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consequence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HGNC_symbol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constraint_score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pLI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04255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881802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Patient_10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missense_variant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V595I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875338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686702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Patient_19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Near_3splice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NA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0.651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badi Extra Light" panose="020B0204020104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0.21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40961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981711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Patient_21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Intron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NA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0.006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0.35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803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1121834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Patient_31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Silent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R589R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56548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541255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Patient_98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badi Extra Light" panose="020B0204020104020204" pitchFamily="34" charset="0"/>
                        </a:rPr>
                        <a:t>missense_variant</a:t>
                      </a:r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L239P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badi Extra Light" panose="020B0204020104020204" pitchFamily="34" charset="0"/>
                        </a:rPr>
                        <a:t>0.12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704830"/>
                  </a:ext>
                </a:extLst>
              </a:tr>
            </a:tbl>
          </a:graphicData>
        </a:graphic>
      </p:graphicFrame>
      <p:sp>
        <p:nvSpPr>
          <p:cNvPr id="6" name="CustomShape 2">
            <a:extLst>
              <a:ext uri="{FF2B5EF4-FFF2-40B4-BE49-F238E27FC236}">
                <a16:creationId xmlns:a16="http://schemas.microsoft.com/office/drawing/2014/main" id="{FEF86476-B539-4D76-A7B1-278DAAD7170F}"/>
              </a:ext>
            </a:extLst>
          </p:cNvPr>
          <p:cNvSpPr/>
          <p:nvPr/>
        </p:nvSpPr>
        <p:spPr>
          <a:xfrm>
            <a:off x="129000" y="5979902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2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*and many more. This is not exhaustive.</a:t>
            </a:r>
          </a:p>
        </p:txBody>
      </p:sp>
    </p:spTree>
    <p:extLst>
      <p:ext uri="{BB962C8B-B14F-4D97-AF65-F5344CB8AC3E}">
        <p14:creationId xmlns:p14="http://schemas.microsoft.com/office/powerpoint/2010/main" val="253854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MPC-PolyPhen2</a:t>
            </a: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mandatory parameters: MPC official values file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6E61F9-A9F3-4AED-8993-6D2E3B462E15}"/>
              </a:ext>
            </a:extLst>
          </p:cNvPr>
          <p:cNvSpPr/>
          <p:nvPr/>
        </p:nvSpPr>
        <p:spPr>
          <a:xfrm>
            <a:off x="250920" y="2024009"/>
            <a:ext cx="8476520" cy="36452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input file containing official MPC values for all possible mutations. Columns of interest are: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Chromosome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Position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Reference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Alteration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Consequence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PolyPhen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 preview of the file used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FEF86476-B539-4D76-A7B1-278DAAD7170F}"/>
              </a:ext>
            </a:extLst>
          </p:cNvPr>
          <p:cNvSpPr/>
          <p:nvPr/>
        </p:nvSpPr>
        <p:spPr>
          <a:xfrm>
            <a:off x="129000" y="5979902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2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*and many more. This is not exhaustive.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66A49F4-6891-482E-BB32-2C1B716C34DA}"/>
              </a:ext>
            </a:extLst>
          </p:cNvPr>
          <p:cNvSpPr/>
          <p:nvPr/>
        </p:nvSpPr>
        <p:spPr>
          <a:xfrm>
            <a:off x="2993120" y="5089340"/>
            <a:ext cx="416560" cy="28284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5FE34D-CB2D-46B8-8394-9A3D12F3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79" y="3100077"/>
            <a:ext cx="4884161" cy="244758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6BD028-6CF4-4F19-9838-8B1C718D3A46}"/>
              </a:ext>
            </a:extLst>
          </p:cNvPr>
          <p:cNvSpPr/>
          <p:nvPr/>
        </p:nvSpPr>
        <p:spPr>
          <a:xfrm>
            <a:off x="3440160" y="280361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badi Extra Light" panose="020B0204020104020204" pitchFamily="34" charset="0"/>
              </a:rPr>
              <a:t>fordist_constraint_official_mpc_values_v2.txt</a:t>
            </a:r>
          </a:p>
        </p:txBody>
      </p:sp>
    </p:spTree>
    <p:extLst>
      <p:ext uri="{BB962C8B-B14F-4D97-AF65-F5344CB8AC3E}">
        <p14:creationId xmlns:p14="http://schemas.microsoft.com/office/powerpoint/2010/main" val="416892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MPC-PolyPhen2</a:t>
            </a: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optional parameters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FEF86476-B539-4D76-A7B1-278DAAD7170F}"/>
              </a:ext>
            </a:extLst>
          </p:cNvPr>
          <p:cNvSpPr/>
          <p:nvPr/>
        </p:nvSpPr>
        <p:spPr>
          <a:xfrm>
            <a:off x="129000" y="5979902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2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*and many more. This is not exhaustive.</a:t>
            </a: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7E6A5665-32DF-4193-9B2A-24392CD8FBA0}"/>
              </a:ext>
            </a:extLst>
          </p:cNvPr>
          <p:cNvSpPr/>
          <p:nvPr/>
        </p:nvSpPr>
        <p:spPr>
          <a:xfrm>
            <a:off x="250920" y="204216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Genes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7756E4D0-62EB-4639-9CAA-C8CCE7E6A80C}"/>
              </a:ext>
            </a:extLst>
          </p:cNvPr>
          <p:cNvSpPr/>
          <p:nvPr/>
        </p:nvSpPr>
        <p:spPr>
          <a:xfrm>
            <a:off x="250920" y="2530369"/>
            <a:ext cx="8476520" cy="27511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filter specific genes. If no setting is provided, all available genes will be considered.</a:t>
            </a:r>
          </a:p>
          <a:p>
            <a:pPr algn="just">
              <a:lnSpc>
                <a:spcPct val="90000"/>
              </a:lnSpc>
            </a:pPr>
            <a:endParaRPr lang="en-US" sz="12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Example: protocol will filter data for gene </a:t>
            </a:r>
            <a:r>
              <a:rPr lang="en-US" sz="2000" b="1" spc="-1" dirty="0">
                <a:solidFill>
                  <a:schemeClr val="accent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CTR9</a:t>
            </a:r>
          </a:p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 ~/data/raw/mutations-file.txt </a:t>
            </a:r>
          </a:p>
          <a:p>
            <a:pPr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 ~/data/raw/ mpc-official-values-file.txt</a:t>
            </a:r>
          </a:p>
          <a:p>
            <a:pPr>
              <a:lnSpc>
                <a:spcPct val="90000"/>
              </a:lnSpc>
            </a:pPr>
            <a:r>
              <a:rPr lang="en-US" sz="140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 </a:t>
            </a:r>
            <a:r>
              <a:rPr lang="en-US" sz="1400" b="1" spc="-1" dirty="0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-g CTR9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 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7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stomShape 2">
            <a:extLst>
              <a:ext uri="{FF2B5EF4-FFF2-40B4-BE49-F238E27FC236}">
                <a16:creationId xmlns:a16="http://schemas.microsoft.com/office/drawing/2014/main" id="{1E27A6A5-3585-4F09-960C-AE419E5126B4}"/>
              </a:ext>
            </a:extLst>
          </p:cNvPr>
          <p:cNvSpPr/>
          <p:nvPr/>
        </p:nvSpPr>
        <p:spPr>
          <a:xfrm>
            <a:off x="250920" y="1574927"/>
            <a:ext cx="8476520" cy="21196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To filter by more than one gene, you can specify one of the following: </a:t>
            </a:r>
          </a:p>
          <a:p>
            <a:pPr algn="just">
              <a:lnSpc>
                <a:spcPct val="90000"/>
              </a:lnSpc>
            </a:pPr>
            <a:endParaRPr lang="en-US" sz="12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Subset of genes separated by comma (without spaces): 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    </a:t>
            </a:r>
            <a:r>
              <a:rPr lang="en-US" sz="2000" spc="-1" dirty="0">
                <a:solidFill>
                  <a:schemeClr val="bg2">
                    <a:lumMod val="75000"/>
                  </a:schemeClr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-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g CTR9,NOCL2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A 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txt tab delimited file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with no headers and the desired genes to filter:</a:t>
            </a:r>
          </a:p>
          <a:p>
            <a:pPr algn="just">
              <a:lnSpc>
                <a:spcPct val="90000"/>
              </a:lnSpc>
            </a:pPr>
            <a:endParaRPr lang="en-US" sz="5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-g ~/data/raw/filters/my-file-containing-genes.txt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4110A-0668-43DD-B282-AD5C9A197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366"/>
          <a:stretch/>
        </p:blipFill>
        <p:spPr>
          <a:xfrm>
            <a:off x="4318000" y="4075504"/>
            <a:ext cx="2510878" cy="841936"/>
          </a:xfrm>
          <a:prstGeom prst="rect">
            <a:avLst/>
          </a:prstGeom>
        </p:spPr>
      </p:pic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E4756863-C52B-412E-BB18-9394678C6B1D}"/>
              </a:ext>
            </a:extLst>
          </p:cNvPr>
          <p:cNvSpPr/>
          <p:nvPr/>
        </p:nvSpPr>
        <p:spPr>
          <a:xfrm rot="5400000">
            <a:off x="3607575" y="3918248"/>
            <a:ext cx="309882" cy="314512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5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2">
            <a:extLst>
              <a:ext uri="{FF2B5EF4-FFF2-40B4-BE49-F238E27FC236}">
                <a16:creationId xmlns:a16="http://schemas.microsoft.com/office/drawing/2014/main" id="{A09836E9-1CA5-4502-BBFF-D90D9B024A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Patients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D3B4E2D7-99F1-4318-AE80-3220B6CBD2F6}"/>
              </a:ext>
            </a:extLst>
          </p:cNvPr>
          <p:cNvSpPr/>
          <p:nvPr/>
        </p:nvSpPr>
        <p:spPr>
          <a:xfrm>
            <a:off x="250920" y="2064649"/>
            <a:ext cx="8476520" cy="27511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filter specific patient IDs. If no setting is provided, all available patients will be considered.</a:t>
            </a:r>
          </a:p>
          <a:p>
            <a:pPr algn="just">
              <a:lnSpc>
                <a:spcPct val="90000"/>
              </a:lnSpc>
            </a:pPr>
            <a:endParaRPr lang="en-US" sz="14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Example: protocol will filter data for </a:t>
            </a:r>
            <a:r>
              <a:rPr lang="en-US" sz="2000" b="1" spc="-1" dirty="0">
                <a:solidFill>
                  <a:schemeClr val="accent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patient with ID 1 </a:t>
            </a:r>
          </a:p>
          <a:p>
            <a:pPr algn="just">
              <a:lnSpc>
                <a:spcPct val="90000"/>
              </a:lnSpc>
            </a:pP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 ~/PBPM/data/raw/mutations-file.txt                                                       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 ~/PBPM/data/raw/pathways/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 -id Patient_1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 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14" name="CustomShape 2">
            <a:extLst>
              <a:ext uri="{FF2B5EF4-FFF2-40B4-BE49-F238E27FC236}">
                <a16:creationId xmlns:a16="http://schemas.microsoft.com/office/drawing/2014/main" id="{1E27A6A5-3585-4F09-960C-AE419E5126B4}"/>
              </a:ext>
            </a:extLst>
          </p:cNvPr>
          <p:cNvSpPr/>
          <p:nvPr/>
        </p:nvSpPr>
        <p:spPr>
          <a:xfrm>
            <a:off x="250920" y="3827126"/>
            <a:ext cx="8476520" cy="21196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To filter by more than one patient, you can specify one of the following: </a:t>
            </a:r>
          </a:p>
          <a:p>
            <a:pPr algn="just">
              <a:lnSpc>
                <a:spcPct val="90000"/>
              </a:lnSpc>
            </a:pPr>
            <a:endParaRPr lang="en-US" sz="11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 subset of patients IDs separated by comma (without spaces): </a:t>
            </a:r>
            <a:endParaRPr lang="fr-FR" sz="1050" b="1" spc="-1" dirty="0">
              <a:solidFill>
                <a:schemeClr val="tx2"/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fr-FR" sz="50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</a:t>
            </a:r>
          </a:p>
          <a:p>
            <a:pPr algn="just">
              <a:lnSpc>
                <a:spcPct val="90000"/>
              </a:lnSpc>
            </a:pPr>
            <a:r>
              <a:rPr lang="fr-FR" sz="105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</a:t>
            </a:r>
            <a:r>
              <a:rPr lang="fr-FR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-id </a:t>
            </a:r>
            <a:r>
              <a:rPr lang="fr-FR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Patient_X,Patient_Y</a:t>
            </a:r>
            <a:endParaRPr lang="en-US" sz="1400" b="1" spc="-1" dirty="0">
              <a:solidFill>
                <a:schemeClr val="bg2">
                  <a:lumMod val="75000"/>
                </a:schemeClr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 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txt tab delimited file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with no headers and the desired patients to filter:</a:t>
            </a:r>
          </a:p>
          <a:p>
            <a:pPr algn="just">
              <a:lnSpc>
                <a:spcPct val="90000"/>
              </a:lnSpc>
            </a:pPr>
            <a:r>
              <a:rPr lang="en-US" sz="50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-id ~/PBPM/data/raw/filters/my-file-containing-patients.txt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E4756863-C52B-412E-BB18-9394678C6B1D}"/>
              </a:ext>
            </a:extLst>
          </p:cNvPr>
          <p:cNvSpPr/>
          <p:nvPr/>
        </p:nvSpPr>
        <p:spPr>
          <a:xfrm rot="5400000">
            <a:off x="4800412" y="5790251"/>
            <a:ext cx="309882" cy="314512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8C9DCA-9C39-4EDC-8FC5-3309DBE782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54"/>
          <a:stretch/>
        </p:blipFill>
        <p:spPr>
          <a:xfrm>
            <a:off x="5365750" y="5492085"/>
            <a:ext cx="2387637" cy="82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5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2">
            <a:extLst>
              <a:ext uri="{FF2B5EF4-FFF2-40B4-BE49-F238E27FC236}">
                <a16:creationId xmlns:a16="http://schemas.microsoft.com/office/drawing/2014/main" id="{A09836E9-1CA5-4502-BBFF-D90D9B024A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Consequences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D3B4E2D7-99F1-4318-AE80-3220B6CBD2F6}"/>
              </a:ext>
            </a:extLst>
          </p:cNvPr>
          <p:cNvSpPr/>
          <p:nvPr/>
        </p:nvSpPr>
        <p:spPr>
          <a:xfrm>
            <a:off x="250920" y="2024009"/>
            <a:ext cx="8476520" cy="2598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filter specific consequences. If no setting is provided, all available consequences will be considered.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Example: protocol will filter data for consequences of type </a:t>
            </a:r>
            <a:r>
              <a:rPr lang="en-US" sz="2000" b="1" spc="-1" dirty="0">
                <a:solidFill>
                  <a:schemeClr val="accent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'</a:t>
            </a:r>
            <a:r>
              <a:rPr lang="en-US" sz="2000" b="1" spc="-1" dirty="0" err="1">
                <a:solidFill>
                  <a:schemeClr val="accent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missense_variant</a:t>
            </a:r>
            <a:r>
              <a:rPr lang="en-US" sz="2000" b="1" spc="-1" dirty="0">
                <a:solidFill>
                  <a:schemeClr val="accent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’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 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 ~/PBPM/data/raw/mutations-file.txt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 ~/PBPM/data/raw/pathways/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tx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         </a:t>
            </a:r>
            <a:r>
              <a:rPr lang="en-US" sz="1400" b="1" spc="-1" dirty="0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-</a:t>
            </a:r>
            <a:r>
              <a:rPr lang="en-US" sz="1400" b="1" spc="-1" dirty="0" err="1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csq</a:t>
            </a:r>
            <a:r>
              <a:rPr lang="en-US" sz="1400" b="1" spc="-1" dirty="0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spc="-1" dirty="0" err="1">
                <a:solidFill>
                  <a:schemeClr val="accent2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missense_variant</a:t>
            </a:r>
            <a:endParaRPr lang="en-US" sz="1400" b="1" spc="-1" dirty="0">
              <a:solidFill>
                <a:schemeClr val="accent2"/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8BEAF83-1A91-4D49-9793-537E7CA5A4DD}"/>
              </a:ext>
            </a:extLst>
          </p:cNvPr>
          <p:cNvSpPr/>
          <p:nvPr/>
        </p:nvSpPr>
        <p:spPr>
          <a:xfrm>
            <a:off x="250920" y="3830447"/>
            <a:ext cx="8476520" cy="21196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To filter by more than one consequence, you can specify one of the following: </a:t>
            </a:r>
          </a:p>
          <a:p>
            <a:pPr algn="just">
              <a:lnSpc>
                <a:spcPct val="90000"/>
              </a:lnSpc>
            </a:pPr>
            <a:endParaRPr lang="en-US" sz="11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 subset of mutations separated by comma (without spaces): </a:t>
            </a:r>
          </a:p>
          <a:p>
            <a:pPr algn="just">
              <a:lnSpc>
                <a:spcPct val="9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</a:t>
            </a:r>
            <a:r>
              <a:rPr lang="en-US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csq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missense_variant,Intron</a:t>
            </a:r>
            <a:endParaRPr lang="en-US" sz="1400" b="1" spc="-1" dirty="0">
              <a:solidFill>
                <a:schemeClr val="bg2">
                  <a:lumMod val="75000"/>
                </a:schemeClr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A 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txt tab delimited file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with no headers and the desired consequences to filter.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    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</a:t>
            </a:r>
            <a:r>
              <a:rPr lang="en-US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csq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~/data/raw/filters/my-file-containing-mutations.txt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64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61D08F02-C258-4478-A594-0BBB40125B14}"/>
              </a:ext>
            </a:extLst>
          </p:cNvPr>
          <p:cNvSpPr/>
          <p:nvPr/>
        </p:nvSpPr>
        <p:spPr>
          <a:xfrm>
            <a:off x="230600" y="161708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trike="noStrike" spc="-1" dirty="0" err="1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PolyPhen</a:t>
            </a: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predictions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0D000F1E-9973-4D34-A1DB-AC65AE1F7C7B}"/>
              </a:ext>
            </a:extLst>
          </p:cNvPr>
          <p:cNvSpPr/>
          <p:nvPr/>
        </p:nvSpPr>
        <p:spPr>
          <a:xfrm>
            <a:off x="230600" y="2064650"/>
            <a:ext cx="8334280" cy="2344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filter records with specific </a:t>
            </a:r>
            <a:r>
              <a:rPr lang="en-US" sz="2000" spc="-1" dirty="0" err="1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PolyPhen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predictions. Available options for this parameter are: benign, possibly damaging, and probably damaging. Example:</a:t>
            </a:r>
          </a:p>
          <a:p>
            <a:pPr algn="just">
              <a:lnSpc>
                <a:spcPct val="90000"/>
              </a:lnSpc>
            </a:pPr>
            <a:endParaRPr lang="en-US" sz="11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~/data/raw/mutations-file.txt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~/data/raw/pathways/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-pph2 "possibly damaging"</a:t>
            </a:r>
          </a:p>
          <a:p>
            <a:pPr algn="just">
              <a:lnSpc>
                <a:spcPct val="90000"/>
              </a:lnSpc>
            </a:pPr>
            <a:endParaRPr lang="en-US" sz="12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Note that qualifiers must be enclosed with quotes as they hold blank spaces.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821ACBA-6E8B-47C0-860D-D9C7950BFDCF}"/>
              </a:ext>
            </a:extLst>
          </p:cNvPr>
          <p:cNvSpPr/>
          <p:nvPr/>
        </p:nvSpPr>
        <p:spPr>
          <a:xfrm>
            <a:off x="230600" y="4144725"/>
            <a:ext cx="8334280" cy="2192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To filter by more than one qualifier, you must separate their labels with comma and without spaces while keeping the quotes:</a:t>
            </a:r>
          </a:p>
          <a:p>
            <a:pPr algn="just">
              <a:lnSpc>
                <a:spcPct val="90000"/>
              </a:lnSpc>
            </a:pPr>
            <a:endParaRPr lang="en-US" sz="11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-pph2 "probably </a:t>
            </a:r>
            <a:r>
              <a:rPr lang="en-US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damaging,possibly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damaging"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729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7DF109D-7FFE-470B-9B6F-3E7AD5EB7C02}"/>
              </a:ext>
            </a:extLst>
          </p:cNvPr>
          <p:cNvSpPr/>
          <p:nvPr/>
        </p:nvSpPr>
        <p:spPr>
          <a:xfrm>
            <a:off x="250920" y="164756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MPC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7BE948D3-1D34-4D07-A2DE-7458B044A25C}"/>
              </a:ext>
            </a:extLst>
          </p:cNvPr>
          <p:cNvSpPr/>
          <p:nvPr/>
        </p:nvSpPr>
        <p:spPr>
          <a:xfrm>
            <a:off x="250920" y="2095130"/>
            <a:ext cx="8334280" cy="2192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filter records with values greater than or equal to a specified MPC threshold. Example:  </a:t>
            </a:r>
          </a:p>
          <a:p>
            <a:pPr algn="just">
              <a:lnSpc>
                <a:spcPct val="90000"/>
              </a:lnSpc>
            </a:pPr>
            <a:endParaRPr lang="en-US" sz="11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 ~/data/raw/mutations-file.txt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~/data/raw/pathways/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-</a:t>
            </a:r>
            <a:r>
              <a:rPr lang="en-US" sz="1400" b="1" spc="-1" dirty="0" err="1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mpc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0.7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29BC412B-3E63-4059-A542-B3F3517EE86A}"/>
              </a:ext>
            </a:extLst>
          </p:cNvPr>
          <p:cNvSpPr/>
          <p:nvPr/>
        </p:nvSpPr>
        <p:spPr>
          <a:xfrm>
            <a:off x="250920" y="3976642"/>
            <a:ext cx="8476520" cy="22514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Optional argument to specify the path where the user wants to store the final MPC annotated patients set. Example:</a:t>
            </a: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$ python3 main.py ~/data/raw/mutations-file.txt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~/data/raw/pathways// </a:t>
            </a:r>
          </a:p>
          <a:p>
            <a:pPr algn="just">
              <a:lnSpc>
                <a:spcPct val="90000"/>
              </a:lnSpc>
            </a:pP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                                     -</a:t>
            </a:r>
            <a:r>
              <a:rPr lang="en-US" sz="10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spc="-1" dirty="0">
                <a:solidFill>
                  <a:schemeClr val="bg2">
                    <a:lumMod val="75000"/>
                  </a:scheme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Calibri Light" panose="020F0302020204030204" pitchFamily="34" charset="0"/>
              </a:rPr>
              <a:t>-path location-where-I-want-to-save-annotated-patients/</a:t>
            </a:r>
          </a:p>
          <a:p>
            <a:pPr algn="just">
              <a:lnSpc>
                <a:spcPct val="90000"/>
              </a:lnSpc>
            </a:pPr>
            <a:endParaRPr lang="en-US" sz="1400" b="1" spc="-1" dirty="0">
              <a:solidFill>
                <a:schemeClr val="bg2">
                  <a:lumMod val="75000"/>
                </a:schemeClr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When not specified, the final files will be stored in the 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analysis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folder of the project.</a:t>
            </a: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CF47ED1C-11F0-4648-B82C-5A3224B4CE4D}"/>
              </a:ext>
            </a:extLst>
          </p:cNvPr>
          <p:cNvSpPr/>
          <p:nvPr/>
        </p:nvSpPr>
        <p:spPr>
          <a:xfrm>
            <a:off x="250920" y="3529072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Path to store final annotations file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36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79A51B-BD72-4466-9EFD-46348358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6" y="2509773"/>
            <a:ext cx="1461811" cy="3753299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What is the project organization?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6E61F9-A9F3-4AED-8993-6D2E3B462E15}"/>
              </a:ext>
            </a:extLst>
          </p:cNvPr>
          <p:cNvSpPr/>
          <p:nvPr/>
        </p:nvSpPr>
        <p:spPr>
          <a:xfrm>
            <a:off x="250920" y="2024009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It has the </a:t>
            </a:r>
            <a:r>
              <a:rPr lang="en-US" sz="2000" spc="-1" dirty="0" err="1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Stalicla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</a:t>
            </a:r>
            <a:r>
              <a:rPr lang="en-US" sz="2000" spc="-1" dirty="0" err="1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Cookiecutter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template for GitHub projects:</a:t>
            </a:r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485909C8-91B2-4F8B-BB90-E426AFE47410}"/>
              </a:ext>
            </a:extLst>
          </p:cNvPr>
          <p:cNvSpPr/>
          <p:nvPr/>
        </p:nvSpPr>
        <p:spPr>
          <a:xfrm>
            <a:off x="2059667" y="2815409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b="1" spc="-1" dirty="0">
                <a:solidFill>
                  <a:schemeClr val="accent2">
                    <a:lumMod val="75000"/>
                  </a:schemeClr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Execution logs are stored at this level and also PBPMs when an alternative path is not specified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236E-7146-4A86-BA37-6C82766650F0}"/>
              </a:ext>
            </a:extLst>
          </p:cNvPr>
          <p:cNvSpPr/>
          <p:nvPr/>
        </p:nvSpPr>
        <p:spPr>
          <a:xfrm>
            <a:off x="685483" y="2918914"/>
            <a:ext cx="1384344" cy="223520"/>
          </a:xfrm>
          <a:prstGeom prst="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1EAC8FFD-320B-42EE-B88A-21772C87A711}"/>
              </a:ext>
            </a:extLst>
          </p:cNvPr>
          <p:cNvSpPr/>
          <p:nvPr/>
        </p:nvSpPr>
        <p:spPr>
          <a:xfrm>
            <a:off x="2059667" y="3814084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Specific libraries for the project can be found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59252F-04AF-44A6-8924-D7E88CC5283B}"/>
              </a:ext>
            </a:extLst>
          </p:cNvPr>
          <p:cNvSpPr/>
          <p:nvPr/>
        </p:nvSpPr>
        <p:spPr>
          <a:xfrm>
            <a:off x="685483" y="3917231"/>
            <a:ext cx="1384344" cy="223520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3948A2C7-DF17-455D-A5A3-C6291E236147}"/>
              </a:ext>
            </a:extLst>
          </p:cNvPr>
          <p:cNvSpPr/>
          <p:nvPr/>
        </p:nvSpPr>
        <p:spPr>
          <a:xfrm>
            <a:off x="2069827" y="5631347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spc="-1" dirty="0">
                <a:solidFill>
                  <a:schemeClr val="accent3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Source code for the project can be found here: </a:t>
            </a:r>
            <a:r>
              <a:rPr lang="en-US" sz="1600" b="1" spc="-1" dirty="0">
                <a:solidFill>
                  <a:schemeClr val="accent3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PBPM.py </a:t>
            </a:r>
            <a:r>
              <a:rPr lang="en-US" sz="1600" spc="-1" dirty="0">
                <a:solidFill>
                  <a:schemeClr val="accent3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and </a:t>
            </a:r>
            <a:r>
              <a:rPr lang="en-US" sz="1600" b="1" spc="-1" dirty="0">
                <a:solidFill>
                  <a:schemeClr val="accent3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main.py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31CFB-57AC-449E-A569-53ABDD525C03}"/>
              </a:ext>
            </a:extLst>
          </p:cNvPr>
          <p:cNvSpPr/>
          <p:nvPr/>
        </p:nvSpPr>
        <p:spPr>
          <a:xfrm>
            <a:off x="685483" y="5457349"/>
            <a:ext cx="1384344" cy="795567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568A13B6-BC35-4E39-8DDC-60E19D6A6F1E}"/>
              </a:ext>
            </a:extLst>
          </p:cNvPr>
          <p:cNvSpPr/>
          <p:nvPr/>
        </p:nvSpPr>
        <p:spPr>
          <a:xfrm>
            <a:off x="2079987" y="2464621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b="1" spc="-1" dirty="0">
                <a:solidFill>
                  <a:schemeClr val="accent4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Available for the entire project settings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9E8BF5-AB3C-4A87-B3E3-CED4E4702740}"/>
              </a:ext>
            </a:extLst>
          </p:cNvPr>
          <p:cNvSpPr/>
          <p:nvPr/>
        </p:nvSpPr>
        <p:spPr>
          <a:xfrm>
            <a:off x="695643" y="2568126"/>
            <a:ext cx="1384344" cy="223520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stomShape 2">
            <a:extLst>
              <a:ext uri="{FF2B5EF4-FFF2-40B4-BE49-F238E27FC236}">
                <a16:creationId xmlns:a16="http://schemas.microsoft.com/office/drawing/2014/main" id="{B93137E8-E9B7-4251-8222-1891090A0FE0}"/>
              </a:ext>
            </a:extLst>
          </p:cNvPr>
          <p:cNvSpPr/>
          <p:nvPr/>
        </p:nvSpPr>
        <p:spPr>
          <a:xfrm>
            <a:off x="2059667" y="4528593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b="1" spc="-1" dirty="0">
                <a:solidFill>
                  <a:schemeClr val="accent1">
                    <a:lumMod val="60000"/>
                    <a:lumOff val="40000"/>
                  </a:schemeClr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Where this presentation 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211045-82F1-4F88-A852-D8FC8C250B92}"/>
              </a:ext>
            </a:extLst>
          </p:cNvPr>
          <p:cNvSpPr/>
          <p:nvPr/>
        </p:nvSpPr>
        <p:spPr>
          <a:xfrm>
            <a:off x="675323" y="4621938"/>
            <a:ext cx="1384344" cy="22352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stomShape 2">
            <a:extLst>
              <a:ext uri="{FF2B5EF4-FFF2-40B4-BE49-F238E27FC236}">
                <a16:creationId xmlns:a16="http://schemas.microsoft.com/office/drawing/2014/main" id="{94D96B60-3AA2-4E44-994E-91CA21A688A8}"/>
              </a:ext>
            </a:extLst>
          </p:cNvPr>
          <p:cNvSpPr/>
          <p:nvPr/>
        </p:nvSpPr>
        <p:spPr>
          <a:xfrm>
            <a:off x="2059667" y="3316029"/>
            <a:ext cx="610616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16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Intermediate matrices are stored at this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FF3AE2-0295-43E7-BDA5-98A6428DDD93}"/>
              </a:ext>
            </a:extLst>
          </p:cNvPr>
          <p:cNvSpPr/>
          <p:nvPr/>
        </p:nvSpPr>
        <p:spPr>
          <a:xfrm>
            <a:off x="685483" y="3419534"/>
            <a:ext cx="1384344" cy="223520"/>
          </a:xfrm>
          <a:prstGeom prst="rect">
            <a:avLst/>
          </a:prstGeom>
          <a:noFill/>
          <a:ln>
            <a:solidFill>
              <a:schemeClr val="tx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33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2">
            <a:extLst>
              <a:ext uri="{FF2B5EF4-FFF2-40B4-BE49-F238E27FC236}">
                <a16:creationId xmlns:a16="http://schemas.microsoft.com/office/drawing/2014/main" id="{49E7E72C-58EB-4A00-8526-CA85934BCBB9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Where is this protocol stored?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6E61F9-A9F3-4AED-8993-6D2E3B462E15}"/>
              </a:ext>
            </a:extLst>
          </p:cNvPr>
          <p:cNvSpPr/>
          <p:nvPr/>
        </p:nvSpPr>
        <p:spPr>
          <a:xfrm>
            <a:off x="250920" y="2024009"/>
            <a:ext cx="8476520" cy="9630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Up to now, the MPC-PolyPhen2 repository is at my private GitHub:</a:t>
            </a:r>
          </a:p>
          <a:p>
            <a:pPr algn="just">
              <a:lnSpc>
                <a:spcPct val="90000"/>
              </a:lnSpc>
            </a:pPr>
            <a:r>
              <a:rPr lang="en-US" sz="2000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https://github.com/mgmartinezl/Stalicla-MPC-PolyPhen</a:t>
            </a:r>
            <a:endParaRPr lang="en-US" sz="2000" spc="-1" dirty="0">
              <a:solidFill>
                <a:schemeClr val="accent1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2000" spc="-1" dirty="0">
              <a:solidFill>
                <a:schemeClr val="accent1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  <p:sp>
        <p:nvSpPr>
          <p:cNvPr id="16" name="CustomShape 2">
            <a:extLst>
              <a:ext uri="{FF2B5EF4-FFF2-40B4-BE49-F238E27FC236}">
                <a16:creationId xmlns:a16="http://schemas.microsoft.com/office/drawing/2014/main" id="{17CC5912-53C1-4E76-B909-EC1582CFFF69}"/>
              </a:ext>
            </a:extLst>
          </p:cNvPr>
          <p:cNvSpPr/>
          <p:nvPr/>
        </p:nvSpPr>
        <p:spPr>
          <a:xfrm>
            <a:off x="250920" y="2804160"/>
            <a:ext cx="8476520" cy="7801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90000"/>
              </a:lnSpc>
            </a:pPr>
            <a:r>
              <a:rPr lang="en-US" sz="2000" u="sng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PENDING task: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upload to the cluster and schedule some tests with final users.</a:t>
            </a:r>
            <a:endParaRPr lang="en-US" sz="2000" spc="-1" dirty="0">
              <a:solidFill>
                <a:schemeClr val="accent1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677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F"/>
      </a:dk2>
      <a:lt2>
        <a:srgbClr val="AEABAB"/>
      </a:lt2>
      <a:accent1>
        <a:srgbClr val="00AEEF"/>
      </a:accent1>
      <a:accent2>
        <a:srgbClr val="FDB913"/>
      </a:accent2>
      <a:accent3>
        <a:srgbClr val="5AB0AB"/>
      </a:accent3>
      <a:accent4>
        <a:srgbClr val="757070"/>
      </a:accent4>
      <a:accent5>
        <a:srgbClr val="AEABAB"/>
      </a:accent5>
      <a:accent6>
        <a:srgbClr val="5CD2FF"/>
      </a:accent6>
      <a:hlink>
        <a:srgbClr val="5AB0AB"/>
      </a:hlink>
      <a:folHlink>
        <a:srgbClr val="00AEE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F"/>
      </a:dk2>
      <a:lt2>
        <a:srgbClr val="AEABAB"/>
      </a:lt2>
      <a:accent1>
        <a:srgbClr val="00AEEF"/>
      </a:accent1>
      <a:accent2>
        <a:srgbClr val="FDB913"/>
      </a:accent2>
      <a:accent3>
        <a:srgbClr val="5AB0AB"/>
      </a:accent3>
      <a:accent4>
        <a:srgbClr val="757070"/>
      </a:accent4>
      <a:accent5>
        <a:srgbClr val="AEABAB"/>
      </a:accent5>
      <a:accent6>
        <a:srgbClr val="5CD2FF"/>
      </a:accent6>
      <a:hlink>
        <a:srgbClr val="5AB0AB"/>
      </a:hlink>
      <a:folHlink>
        <a:srgbClr val="00AEE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4705</TotalTime>
  <Words>1077</Words>
  <Application>Microsoft Office PowerPoint</Application>
  <PresentationFormat>On-screen Show (4:3)</PresentationFormat>
  <Paragraphs>188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Abadi Extra Light</vt:lpstr>
      <vt:lpstr>Arial</vt:lpstr>
      <vt:lpstr>Calibri</vt:lpstr>
      <vt:lpstr>Source Sans Pro Light</vt:lpstr>
      <vt:lpstr>Symbol</vt:lpstr>
      <vt:lpstr>Tahoma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Beckie Best</dc:creator>
  <dc:description/>
  <cp:lastModifiedBy>Gabriela Martinez L.</cp:lastModifiedBy>
  <cp:revision>199</cp:revision>
  <cp:lastPrinted>2018-06-11T12:22:51Z</cp:lastPrinted>
  <dcterms:created xsi:type="dcterms:W3CDTF">2018-01-04T09:16:16Z</dcterms:created>
  <dcterms:modified xsi:type="dcterms:W3CDTF">2019-09-10T13:20:48Z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Microsoft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</vt:i4>
  </property>
</Properties>
</file>